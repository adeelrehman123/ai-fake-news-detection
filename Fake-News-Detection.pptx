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erif" panose="020B0604020202020204" charset="0"/>
      <p:regular r:id="rId13"/>
    </p:embeddedFon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05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F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F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382" y="1396603"/>
            <a:ext cx="1304211" cy="346353"/>
          </a:xfrm>
          <a:prstGeom prst="roundRect">
            <a:avLst>
              <a:gd name="adj" fmla="val 45699"/>
            </a:avLst>
          </a:prstGeom>
          <a:noFill/>
          <a:ln w="7620">
            <a:solidFill>
              <a:srgbClr val="0404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8804" y="1470065"/>
            <a:ext cx="1025366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5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PROJECT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9382" y="1963103"/>
            <a:ext cx="7231618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9382" y="2408158"/>
            <a:ext cx="7231618" cy="249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0"/>
              </a:lnSpc>
              <a:buNone/>
            </a:pPr>
            <a:r>
              <a:rPr lang="en-US" sz="9800" dirty="0">
                <a:solidFill>
                  <a:srgbClr val="78787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AI-Powered</a:t>
            </a:r>
            <a:r>
              <a:rPr lang="en-US" sz="98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</a:t>
            </a:r>
            <a:r>
              <a:rPr lang="en-US" sz="980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Fake News Detection</a:t>
            </a:r>
            <a:endParaRPr lang="en-US" sz="9800" dirty="0"/>
          </a:p>
        </p:txBody>
      </p:sp>
      <p:sp>
        <p:nvSpPr>
          <p:cNvPr id="6" name="Text 4"/>
          <p:cNvSpPr/>
          <p:nvPr/>
        </p:nvSpPr>
        <p:spPr>
          <a:xfrm>
            <a:off x="769382" y="5102066"/>
            <a:ext cx="7231618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9382" y="5527476"/>
            <a:ext cx="7231618" cy="848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700" dirty="0">
              <a:solidFill>
                <a:srgbClr val="78787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50"/>
              </a:lnSpc>
              <a:buNone/>
            </a:pPr>
            <a:endParaRPr lang="en-US" sz="1700" dirty="0">
              <a:solidFill>
                <a:srgbClr val="78787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787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ARY News Headline Verifier — Detecting misinformation using Machine Learning, Web Scraping &amp; NewsAPI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9382" y="6202204"/>
            <a:ext cx="7231618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9382" y="6627614"/>
            <a:ext cx="7231618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Course:</a:t>
            </a:r>
            <a:r>
              <a:rPr lang="en-US" sz="17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Artificial Intelligence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386643" y="1176457"/>
            <a:ext cx="5640110" cy="5876568"/>
          </a:xfrm>
          <a:prstGeom prst="roundRect">
            <a:avLst>
              <a:gd name="adj" fmla="val 561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06433" y="1396603"/>
            <a:ext cx="5200531" cy="1695569"/>
          </a:xfrm>
          <a:prstGeom prst="roundRect">
            <a:avLst>
              <a:gd name="adj" fmla="val 11669"/>
            </a:avLst>
          </a:prstGeom>
          <a:solidFill>
            <a:srgbClr val="F3FF99"/>
          </a:solidFill>
          <a:ln/>
          <a:effectLst>
            <a:outerShdw blurRad="32893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26222" y="1616393"/>
            <a:ext cx="312253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Team Members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8826222" y="2124432"/>
            <a:ext cx="4760952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Sehla Razzak (24K-0575)</a:t>
            </a:r>
          </a:p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Adeel Rehman (24k-0910)</a:t>
            </a:r>
          </a:p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Tania Mukhi (24K-0713)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06433" y="3287911"/>
            <a:ext cx="5200531" cy="1446252"/>
          </a:xfrm>
          <a:prstGeom prst="roundRect">
            <a:avLst>
              <a:gd name="adj" fmla="val 13680"/>
            </a:avLst>
          </a:prstGeom>
          <a:solidFill>
            <a:srgbClr val="D1F5FB"/>
          </a:solidFill>
          <a:ln/>
          <a:effectLst>
            <a:outerShdw blurRad="32893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26222" y="3507700"/>
            <a:ext cx="312253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Domain</a:t>
            </a:r>
            <a:endParaRPr lang="en-US" sz="2450" dirty="0"/>
          </a:p>
        </p:txBody>
      </p:sp>
      <p:sp>
        <p:nvSpPr>
          <p:cNvPr id="16" name="Text 14"/>
          <p:cNvSpPr/>
          <p:nvPr/>
        </p:nvSpPr>
        <p:spPr>
          <a:xfrm>
            <a:off x="8826222" y="4015740"/>
            <a:ext cx="4760952" cy="49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Processing, Web Scraping &amp; Machine Learning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606433" y="4929902"/>
            <a:ext cx="5200531" cy="1446252"/>
          </a:xfrm>
          <a:prstGeom prst="roundRect">
            <a:avLst>
              <a:gd name="adj" fmla="val 13680"/>
            </a:avLst>
          </a:prstGeom>
          <a:solidFill>
            <a:srgbClr val="EEDFFC"/>
          </a:solidFill>
          <a:ln/>
          <a:effectLst>
            <a:outerShdw blurRad="32893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26222" y="5149691"/>
            <a:ext cx="312253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Output</a:t>
            </a:r>
            <a:endParaRPr lang="en-US" sz="2450" dirty="0"/>
          </a:p>
        </p:txBody>
      </p:sp>
      <p:sp>
        <p:nvSpPr>
          <p:cNvPr id="19" name="Text 17"/>
          <p:cNvSpPr/>
          <p:nvPr/>
        </p:nvSpPr>
        <p:spPr>
          <a:xfrm>
            <a:off x="8826222" y="5657731"/>
            <a:ext cx="4760952" cy="49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/ SUSPICIOUS / FAKE — with confidence score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923211"/>
            <a:ext cx="1336596" cy="400050"/>
          </a:xfrm>
          <a:prstGeom prst="roundRect">
            <a:avLst>
              <a:gd name="adj" fmla="val 44424"/>
            </a:avLst>
          </a:prstGeom>
          <a:noFill/>
          <a:ln w="7620">
            <a:solidFill>
              <a:srgbClr val="0404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19413" y="1004768"/>
            <a:ext cx="1025366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3798" y="1421963"/>
            <a:ext cx="7012186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55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Project Overview:</a:t>
            </a:r>
            <a:endParaRPr lang="en-US" sz="5500" dirty="0"/>
          </a:p>
          <a:p>
            <a:pPr marL="0" indent="0" algn="l">
              <a:lnSpc>
                <a:spcPts val="5500"/>
              </a:lnSpc>
              <a:buNone/>
            </a:pPr>
            <a:r>
              <a:rPr lang="en-US" sz="550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This System Does</a:t>
            </a:r>
            <a:endParaRPr lang="en-US" sz="5500" dirty="0"/>
          </a:p>
        </p:txBody>
      </p:sp>
      <p:sp>
        <p:nvSpPr>
          <p:cNvPr id="5" name="Shape 3"/>
          <p:cNvSpPr/>
          <p:nvPr/>
        </p:nvSpPr>
        <p:spPr>
          <a:xfrm>
            <a:off x="863798" y="3194685"/>
            <a:ext cx="6327934" cy="1527096"/>
          </a:xfrm>
          <a:prstGeom prst="roundRect">
            <a:avLst>
              <a:gd name="adj" fmla="val 14547"/>
            </a:avLst>
          </a:prstGeom>
          <a:solidFill>
            <a:srgbClr val="FBFBFB"/>
          </a:solidFill>
          <a:ln w="30480">
            <a:solidFill>
              <a:srgbClr val="FFFFFF"/>
            </a:solidFill>
            <a:prstDash val="solid"/>
          </a:ln>
          <a:effectLst>
            <a:outerShdw blurRad="36957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1095" y="3471982"/>
            <a:ext cx="350603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🎯</a:t>
            </a:r>
            <a:r>
              <a:rPr lang="en-US" sz="27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Detect Fake Headlines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1141095" y="3970615"/>
            <a:ext cx="5773341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Analyzes any news headline submitted by the user and evaluates its authenticity using multiple verification layers.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38549" y="3194685"/>
            <a:ext cx="6328053" cy="1527096"/>
          </a:xfrm>
          <a:prstGeom prst="roundRect">
            <a:avLst>
              <a:gd name="adj" fmla="val 14547"/>
            </a:avLst>
          </a:prstGeom>
          <a:solidFill>
            <a:srgbClr val="FBFBFB"/>
          </a:solidFill>
          <a:ln w="30480">
            <a:solidFill>
              <a:srgbClr val="FFFFFF"/>
            </a:solidFill>
            <a:prstDash val="solid"/>
          </a:ln>
          <a:effectLst>
            <a:outerShdw blurRad="36957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15845" y="3471982"/>
            <a:ext cx="350603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🌐</a:t>
            </a:r>
            <a:r>
              <a:rPr lang="en-US" sz="27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ARY News Scraping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7715845" y="3970615"/>
            <a:ext cx="5773460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Scrapes live headlines from ARY News website using BFS algorithm to find the most similar published headline.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3798" y="4968597"/>
            <a:ext cx="6327934" cy="1764030"/>
          </a:xfrm>
          <a:prstGeom prst="roundRect">
            <a:avLst>
              <a:gd name="adj" fmla="val 12593"/>
            </a:avLst>
          </a:prstGeom>
          <a:solidFill>
            <a:srgbClr val="FBFBFB"/>
          </a:solidFill>
          <a:ln w="30480">
            <a:solidFill>
              <a:srgbClr val="FFFFFF"/>
            </a:solidFill>
            <a:prstDash val="solid"/>
          </a:ln>
          <a:effectLst>
            <a:outerShdw blurRad="36957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1095" y="5245894"/>
            <a:ext cx="350603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📡</a:t>
            </a:r>
            <a:r>
              <a:rPr lang="en-US" sz="27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NewsAPI Cross-Check</a:t>
            </a:r>
            <a:endParaRPr lang="en-US" sz="2750" dirty="0"/>
          </a:p>
        </p:txBody>
      </p:sp>
      <p:sp>
        <p:nvSpPr>
          <p:cNvPr id="13" name="Text 11"/>
          <p:cNvSpPr/>
          <p:nvPr/>
        </p:nvSpPr>
        <p:spPr>
          <a:xfrm>
            <a:off x="1141095" y="5744528"/>
            <a:ext cx="5773341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Queries NewsAPI to fetch headlines from thousands of global news sources and counts how many match the input.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438549" y="4968597"/>
            <a:ext cx="6328053" cy="1764030"/>
          </a:xfrm>
          <a:prstGeom prst="roundRect">
            <a:avLst>
              <a:gd name="adj" fmla="val 12593"/>
            </a:avLst>
          </a:prstGeom>
          <a:solidFill>
            <a:srgbClr val="FBFBFB"/>
          </a:solidFill>
          <a:ln w="30480">
            <a:solidFill>
              <a:srgbClr val="FFFFFF"/>
            </a:solidFill>
            <a:prstDash val="solid"/>
          </a:ln>
          <a:effectLst>
            <a:outerShdw blurRad="36957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15845" y="5245894"/>
            <a:ext cx="350603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🤖</a:t>
            </a:r>
            <a:r>
              <a:rPr lang="en-US" sz="27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ML Prediction</a:t>
            </a:r>
            <a:endParaRPr lang="en-US" sz="2750" dirty="0"/>
          </a:p>
        </p:txBody>
      </p:sp>
      <p:sp>
        <p:nvSpPr>
          <p:cNvPr id="16" name="Text 14"/>
          <p:cNvSpPr/>
          <p:nvPr/>
        </p:nvSpPr>
        <p:spPr>
          <a:xfrm>
            <a:off x="7715845" y="5744528"/>
            <a:ext cx="5773460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a trained Logistic Regression model with TF-IDF to predict whether the headline is REAL or FAKE with a confidence score.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3798" y="7010281"/>
            <a:ext cx="1290280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Output:</a:t>
            </a:r>
            <a:r>
              <a:rPr lang="en-US" sz="19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900" dirty="0">
                <a:solidFill>
                  <a:srgbClr val="3C3C3C"/>
                </a:solidFill>
                <a:highlight>
                  <a:srgbClr val="C2FBC8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REAL</a:t>
            </a:r>
            <a:r>
              <a:rPr lang="en-US" sz="19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|  </a:t>
            </a:r>
            <a:r>
              <a:rPr lang="en-US" sz="1900" dirty="0">
                <a:solidFill>
                  <a:srgbClr val="3C3C3C"/>
                </a:solidFill>
                <a:highlight>
                  <a:srgbClr val="FFE399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SUSPICIOUS</a:t>
            </a:r>
            <a:r>
              <a:rPr lang="en-US" sz="19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|  </a:t>
            </a:r>
            <a:r>
              <a:rPr lang="en-US" sz="1900" dirty="0">
                <a:solidFill>
                  <a:srgbClr val="3C3C3C"/>
                </a:solidFill>
                <a:highlight>
                  <a:srgbClr val="EEDFFC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FAKE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894" y="399812"/>
            <a:ext cx="1034772" cy="202406"/>
          </a:xfrm>
          <a:prstGeom prst="roundRect">
            <a:avLst>
              <a:gd name="adj" fmla="val 49389"/>
            </a:avLst>
          </a:prstGeom>
          <a:noFill/>
          <a:ln w="7620">
            <a:solidFill>
              <a:srgbClr val="0404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6739" y="448985"/>
            <a:ext cx="853083" cy="10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5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5894" y="633413"/>
            <a:ext cx="3944303" cy="39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System Workflow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85894" y="1144905"/>
            <a:ext cx="13658612" cy="13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headline passes through a multi-layer verification pipeline before a final verdict is delivered.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11" y="1362789"/>
            <a:ext cx="13545979" cy="58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3727" y="6113880"/>
            <a:ext cx="3492045" cy="349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ML Verdict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453727" y="4761708"/>
            <a:ext cx="3492045" cy="349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NewsAPI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453727" y="3423194"/>
            <a:ext cx="3492045" cy="349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ARY Scraper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453727" y="2071021"/>
            <a:ext cx="3492045" cy="61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700" dirty="0">
              <a:solidFill>
                <a:srgbClr val="FFFFFF"/>
              </a:solidFill>
              <a:latin typeface="Instrument Serif" pitchFamily="34" charset="0"/>
              <a:ea typeface="Instrument Serif" pitchFamily="34" charset="-122"/>
              <a:cs typeface="Instrument Serif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User Input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485894" y="7291864"/>
            <a:ext cx="4500801" cy="537924"/>
          </a:xfrm>
          <a:prstGeom prst="roundRect">
            <a:avLst>
              <a:gd name="adj" fmla="val 23230"/>
            </a:avLst>
          </a:prstGeom>
          <a:solidFill>
            <a:srgbClr val="F3FF99"/>
          </a:solidFill>
          <a:ln/>
          <a:effectLst>
            <a:outerShdw blurRad="20701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4721" y="7430691"/>
            <a:ext cx="4223147" cy="13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User submits a headline for verification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64681" y="7291864"/>
            <a:ext cx="4500920" cy="537924"/>
          </a:xfrm>
          <a:prstGeom prst="roundRect">
            <a:avLst>
              <a:gd name="adj" fmla="val 23230"/>
            </a:avLst>
          </a:prstGeom>
          <a:solidFill>
            <a:srgbClr val="D1F5FB"/>
          </a:solidFill>
          <a:ln/>
          <a:effectLst>
            <a:outerShdw blurRad="20701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203508" y="7430691"/>
            <a:ext cx="4223266" cy="260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 2–3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ARY Scraper &amp; NewsAPI independently verify the headline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643586" y="7291864"/>
            <a:ext cx="4500920" cy="537924"/>
          </a:xfrm>
          <a:prstGeom prst="roundRect">
            <a:avLst>
              <a:gd name="adj" fmla="val 23230"/>
            </a:avLst>
          </a:prstGeom>
          <a:solidFill>
            <a:srgbClr val="EEDFFC"/>
          </a:solidFill>
          <a:ln/>
          <a:effectLst>
            <a:outerShdw blurRad="20701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782413" y="7430691"/>
            <a:ext cx="4223266" cy="260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4–5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ML model predicts; all scores combine into final verdict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3317" y="652462"/>
            <a:ext cx="1660088" cy="376714"/>
          </a:xfrm>
          <a:prstGeom prst="roundRect">
            <a:avLst>
              <a:gd name="adj" fmla="val 44965"/>
            </a:avLst>
          </a:prstGeom>
          <a:noFill/>
          <a:ln w="7620">
            <a:solidFill>
              <a:srgbClr val="0404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72026" y="730568"/>
            <a:ext cx="136267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1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23317" y="1118830"/>
            <a:ext cx="6761321" cy="668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52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ARY Scraper — </a:t>
            </a:r>
            <a:r>
              <a:rPr lang="en-US" sz="525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BFS Algorithm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653891" y="2123361"/>
            <a:ext cx="5188029" cy="3904417"/>
          </a:xfrm>
          <a:prstGeom prst="roundRect">
            <a:avLst>
              <a:gd name="adj" fmla="val 8677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9040" y="2547223"/>
            <a:ext cx="3341727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How BFS Works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89040" y="3105626"/>
            <a:ext cx="4717733" cy="66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Breadth-First Search explores pages </a:t>
            </a: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by level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a queue — visiting all pages at the current depth before going deeper.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89040" y="4078010"/>
            <a:ext cx="4717733" cy="17621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9040" y="4406503"/>
            <a:ext cx="3341727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Why BFS for Scraping?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89040" y="4964906"/>
            <a:ext cx="4717733" cy="66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broad coverage across all ARY News category pages before drilling into individual articles, maximizing headline discovery.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84570" y="2123361"/>
            <a:ext cx="7899559" cy="3904417"/>
          </a:xfrm>
          <a:prstGeom prst="roundRect">
            <a:avLst>
              <a:gd name="adj" fmla="val 8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718" y="2375535"/>
            <a:ext cx="7429262" cy="3400068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49455" y="3677977"/>
            <a:ext cx="401136" cy="4011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008303" y="4980434"/>
            <a:ext cx="1394763" cy="24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Compare</a:t>
            </a:r>
            <a:endParaRPr lang="en-US" sz="1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0921" y="3678729"/>
            <a:ext cx="401136" cy="4011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50519" y="4980434"/>
            <a:ext cx="1394763" cy="24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Extract</a:t>
            </a:r>
            <a:endParaRPr lang="en-US" sz="1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2764" y="3678729"/>
            <a:ext cx="401136" cy="4011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02288" y="4980434"/>
            <a:ext cx="1394764" cy="24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Enqueue</a:t>
            </a:r>
            <a:endParaRPr lang="en-US" sz="1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36583" y="3678729"/>
            <a:ext cx="401136" cy="4011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15844" y="4980434"/>
            <a:ext cx="1394764" cy="24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Start</a:t>
            </a:r>
            <a:endParaRPr lang="en-US" sz="1900" dirty="0"/>
          </a:p>
        </p:txBody>
      </p:sp>
      <p:sp>
        <p:nvSpPr>
          <p:cNvPr id="21" name="Shape 14"/>
          <p:cNvSpPr/>
          <p:nvPr/>
        </p:nvSpPr>
        <p:spPr>
          <a:xfrm>
            <a:off x="823317" y="6279952"/>
            <a:ext cx="4178379" cy="1297186"/>
          </a:xfrm>
          <a:prstGeom prst="roundRect">
            <a:avLst>
              <a:gd name="adj" fmla="val 16323"/>
            </a:avLst>
          </a:prstGeom>
          <a:solidFill>
            <a:srgbClr val="F3FF99"/>
          </a:solidFill>
          <a:ln/>
          <a:effectLst>
            <a:outerShdw blurRad="35179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1058466" y="6515100"/>
            <a:ext cx="3708082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Multi-Category</a:t>
            </a:r>
            <a:r>
              <a:rPr lang="en-US" sz="1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Scrapes politics, sports, tech &amp; more simultaneously</a:t>
            </a:r>
            <a:endParaRPr lang="en-US" sz="1850" dirty="0"/>
          </a:p>
        </p:txBody>
      </p:sp>
      <p:sp>
        <p:nvSpPr>
          <p:cNvPr id="23" name="Shape 16"/>
          <p:cNvSpPr/>
          <p:nvPr/>
        </p:nvSpPr>
        <p:spPr>
          <a:xfrm>
            <a:off x="5225891" y="6279952"/>
            <a:ext cx="4178498" cy="1297186"/>
          </a:xfrm>
          <a:prstGeom prst="roundRect">
            <a:avLst>
              <a:gd name="adj" fmla="val 16323"/>
            </a:avLst>
          </a:prstGeom>
          <a:solidFill>
            <a:srgbClr val="D1F5FB"/>
          </a:solidFill>
          <a:ln/>
          <a:effectLst>
            <a:outerShdw blurRad="35179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5461040" y="6515100"/>
            <a:ext cx="3708202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Parsing</a:t>
            </a:r>
            <a:r>
              <a:rPr lang="en-US" sz="1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Extracts headline text directly from page structure</a:t>
            </a:r>
            <a:endParaRPr lang="en-US" sz="1850" dirty="0"/>
          </a:p>
        </p:txBody>
      </p:sp>
      <p:sp>
        <p:nvSpPr>
          <p:cNvPr id="25" name="Shape 18"/>
          <p:cNvSpPr/>
          <p:nvPr/>
        </p:nvSpPr>
        <p:spPr>
          <a:xfrm>
            <a:off x="9628584" y="6279952"/>
            <a:ext cx="4178379" cy="1297186"/>
          </a:xfrm>
          <a:prstGeom prst="roundRect">
            <a:avLst>
              <a:gd name="adj" fmla="val 16323"/>
            </a:avLst>
          </a:prstGeom>
          <a:solidFill>
            <a:srgbClr val="EEDFFC"/>
          </a:solidFill>
          <a:ln/>
          <a:effectLst>
            <a:outerShdw blurRad="35179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9863733" y="6515100"/>
            <a:ext cx="3708082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Similarity Match</a:t>
            </a:r>
            <a:r>
              <a:rPr lang="en-US" sz="1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Finds the closest ARY headline to the user's input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819" y="710803"/>
            <a:ext cx="1339215" cy="281702"/>
          </a:xfrm>
          <a:prstGeom prst="roundRect">
            <a:avLst>
              <a:gd name="adj" fmla="val 47316"/>
            </a:avLst>
          </a:prstGeom>
          <a:noFill/>
          <a:ln w="7620">
            <a:solidFill>
              <a:srgbClr val="0404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6405" y="773906"/>
            <a:ext cx="1102043" cy="155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5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7819" y="1047988"/>
            <a:ext cx="5259110" cy="525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4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NewsAPI </a:t>
            </a:r>
            <a:r>
              <a:rPr lang="en-US" sz="410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External Verification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47819" y="1712714"/>
            <a:ext cx="644163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Cross-checks the headline against thousands of global news sources to gauge worldwide coverage and credibility.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7819" y="2240161"/>
            <a:ext cx="2629495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Matching Algorithms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647819" y="2659261"/>
            <a:ext cx="6441638" cy="1110734"/>
          </a:xfrm>
          <a:prstGeom prst="roundRect">
            <a:avLst>
              <a:gd name="adj" fmla="val 15000"/>
            </a:avLst>
          </a:prstGeom>
          <a:solidFill>
            <a:srgbClr val="FBFBFB"/>
          </a:solidFill>
          <a:ln w="22860">
            <a:solidFill>
              <a:srgbClr val="F3FF99"/>
            </a:solidFill>
            <a:prstDash val="solid"/>
          </a:ln>
          <a:effectLst>
            <a:outerShdw blurRad="27686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0679" y="2682121"/>
            <a:ext cx="740450" cy="1065014"/>
          </a:xfrm>
          <a:prstGeom prst="roundRect">
            <a:avLst>
              <a:gd name="adj" fmla="val 18797"/>
            </a:avLst>
          </a:prstGeom>
          <a:solidFill>
            <a:srgbClr val="F3FF99"/>
          </a:solidFill>
          <a:ln/>
          <a:effectLst>
            <a:outerShdw blurRad="27686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02018" y="3075742"/>
            <a:ext cx="277654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1549956" y="2867144"/>
            <a:ext cx="5331619" cy="5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Keyword Matching</a:t>
            </a:r>
            <a:r>
              <a:rPr lang="en-US" sz="20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Extracts key terms and checks presence in fetched headlines</a:t>
            </a:r>
            <a:endParaRPr lang="en-US" sz="2050" dirty="0"/>
          </a:p>
        </p:txBody>
      </p:sp>
      <p:sp>
        <p:nvSpPr>
          <p:cNvPr id="11" name="Shape 9"/>
          <p:cNvSpPr/>
          <p:nvPr/>
        </p:nvSpPr>
        <p:spPr>
          <a:xfrm>
            <a:off x="647819" y="3908822"/>
            <a:ext cx="6441638" cy="1110734"/>
          </a:xfrm>
          <a:prstGeom prst="roundRect">
            <a:avLst>
              <a:gd name="adj" fmla="val 15000"/>
            </a:avLst>
          </a:prstGeom>
          <a:solidFill>
            <a:srgbClr val="FBFBFB"/>
          </a:solidFill>
          <a:ln w="22860">
            <a:solidFill>
              <a:srgbClr val="D1F5FB"/>
            </a:solidFill>
            <a:prstDash val="solid"/>
          </a:ln>
          <a:effectLst>
            <a:outerShdw blurRad="27686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0679" y="3931682"/>
            <a:ext cx="740450" cy="1065014"/>
          </a:xfrm>
          <a:prstGeom prst="roundRect">
            <a:avLst>
              <a:gd name="adj" fmla="val 18797"/>
            </a:avLst>
          </a:prstGeom>
          <a:solidFill>
            <a:srgbClr val="D1F5FB"/>
          </a:solidFill>
          <a:ln/>
          <a:effectLst>
            <a:outerShdw blurRad="27686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2018" y="4325303"/>
            <a:ext cx="277654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1549956" y="4116705"/>
            <a:ext cx="5331619" cy="5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Fuzzy Similarity</a:t>
            </a:r>
            <a:r>
              <a:rPr lang="en-US" sz="20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Measures string-level similarity to handle minor wording differences</a:t>
            </a:r>
            <a:endParaRPr lang="en-US" sz="2050" dirty="0"/>
          </a:p>
        </p:txBody>
      </p:sp>
      <p:sp>
        <p:nvSpPr>
          <p:cNvPr id="15" name="Shape 13"/>
          <p:cNvSpPr/>
          <p:nvPr/>
        </p:nvSpPr>
        <p:spPr>
          <a:xfrm>
            <a:off x="647819" y="5158383"/>
            <a:ext cx="6441638" cy="1110734"/>
          </a:xfrm>
          <a:prstGeom prst="roundRect">
            <a:avLst>
              <a:gd name="adj" fmla="val 15000"/>
            </a:avLst>
          </a:prstGeom>
          <a:solidFill>
            <a:srgbClr val="FBFBFB"/>
          </a:solidFill>
          <a:ln w="22860">
            <a:solidFill>
              <a:srgbClr val="FFE399"/>
            </a:solidFill>
            <a:prstDash val="solid"/>
          </a:ln>
          <a:effectLst>
            <a:outerShdw blurRad="27686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0679" y="5181243"/>
            <a:ext cx="740450" cy="1065014"/>
          </a:xfrm>
          <a:prstGeom prst="roundRect">
            <a:avLst>
              <a:gd name="adj" fmla="val 18797"/>
            </a:avLst>
          </a:prstGeom>
          <a:solidFill>
            <a:srgbClr val="FFE399"/>
          </a:solidFill>
          <a:ln/>
          <a:effectLst>
            <a:outerShdw blurRad="27686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2018" y="5574863"/>
            <a:ext cx="277654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1549956" y="5366266"/>
            <a:ext cx="5331619" cy="5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Source Count</a:t>
            </a:r>
            <a:r>
              <a:rPr lang="en-US" sz="20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Counts how many independent sources report the same story</a:t>
            </a:r>
            <a:endParaRPr lang="en-US" sz="2050" dirty="0"/>
          </a:p>
        </p:txBody>
      </p:sp>
      <p:sp>
        <p:nvSpPr>
          <p:cNvPr id="19" name="Shape 17"/>
          <p:cNvSpPr/>
          <p:nvPr/>
        </p:nvSpPr>
        <p:spPr>
          <a:xfrm>
            <a:off x="647819" y="6407944"/>
            <a:ext cx="6441638" cy="1110734"/>
          </a:xfrm>
          <a:prstGeom prst="roundRect">
            <a:avLst>
              <a:gd name="adj" fmla="val 15000"/>
            </a:avLst>
          </a:prstGeom>
          <a:solidFill>
            <a:srgbClr val="FBFBFB"/>
          </a:solidFill>
          <a:ln w="22860">
            <a:solidFill>
              <a:srgbClr val="EEDFFC"/>
            </a:solidFill>
            <a:prstDash val="solid"/>
          </a:ln>
          <a:effectLst>
            <a:outerShdw blurRad="27686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0679" y="6430804"/>
            <a:ext cx="740450" cy="1065014"/>
          </a:xfrm>
          <a:prstGeom prst="roundRect">
            <a:avLst>
              <a:gd name="adj" fmla="val 18797"/>
            </a:avLst>
          </a:prstGeom>
          <a:solidFill>
            <a:srgbClr val="EEDFFC"/>
          </a:solidFill>
          <a:ln/>
          <a:effectLst>
            <a:outerShdw blurRad="27686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2018" y="6824424"/>
            <a:ext cx="277654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1549956" y="6615827"/>
            <a:ext cx="5331619" cy="5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Score Output</a:t>
            </a:r>
            <a:r>
              <a:rPr lang="en-US" sz="20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Returns a normalized API score used in confidence formula</a:t>
            </a:r>
            <a:endParaRPr lang="en-US" sz="2050" dirty="0"/>
          </a:p>
        </p:txBody>
      </p:sp>
      <p:sp>
        <p:nvSpPr>
          <p:cNvPr id="23" name="Shape 21"/>
          <p:cNvSpPr/>
          <p:nvPr/>
        </p:nvSpPr>
        <p:spPr>
          <a:xfrm>
            <a:off x="7548563" y="2515195"/>
            <a:ext cx="6441638" cy="973812"/>
          </a:xfrm>
          <a:prstGeom prst="roundRect">
            <a:avLst>
              <a:gd name="adj" fmla="val 17109"/>
            </a:avLst>
          </a:prstGeom>
          <a:solidFill>
            <a:srgbClr val="F3FF99"/>
          </a:solidFill>
          <a:ln/>
          <a:effectLst>
            <a:outerShdw blurRad="27686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33586" y="2700218"/>
            <a:ext cx="2629495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🌍 Global Reach</a:t>
            </a:r>
            <a:endParaRPr lang="en-US" sz="2050" dirty="0"/>
          </a:p>
        </p:txBody>
      </p:sp>
      <p:sp>
        <p:nvSpPr>
          <p:cNvPr id="25" name="Text 23"/>
          <p:cNvSpPr/>
          <p:nvPr/>
        </p:nvSpPr>
        <p:spPr>
          <a:xfrm>
            <a:off x="7733586" y="3109674"/>
            <a:ext cx="6071592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Fetches headlines from thousands of sources worldwide in real-time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548563" y="3627834"/>
            <a:ext cx="6441638" cy="973812"/>
          </a:xfrm>
          <a:prstGeom prst="roundRect">
            <a:avLst>
              <a:gd name="adj" fmla="val 17109"/>
            </a:avLst>
          </a:prstGeom>
          <a:solidFill>
            <a:srgbClr val="D1F5FB"/>
          </a:solidFill>
          <a:ln/>
          <a:effectLst>
            <a:outerShdw blurRad="27686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33586" y="3812858"/>
            <a:ext cx="2629495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🔎 Headline Extraction</a:t>
            </a:r>
            <a:endParaRPr lang="en-US" sz="2050" dirty="0"/>
          </a:p>
        </p:txBody>
      </p:sp>
      <p:sp>
        <p:nvSpPr>
          <p:cNvPr id="28" name="Text 26"/>
          <p:cNvSpPr/>
          <p:nvPr/>
        </p:nvSpPr>
        <p:spPr>
          <a:xfrm>
            <a:off x="7733586" y="4222313"/>
            <a:ext cx="6071592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Parses API response to isolate headline text for comparison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548563" y="4740473"/>
            <a:ext cx="6441638" cy="973812"/>
          </a:xfrm>
          <a:prstGeom prst="roundRect">
            <a:avLst>
              <a:gd name="adj" fmla="val 17109"/>
            </a:avLst>
          </a:prstGeom>
          <a:solidFill>
            <a:srgbClr val="EEDFFC"/>
          </a:solidFill>
          <a:ln/>
          <a:effectLst>
            <a:outerShdw blurRad="27686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33586" y="4925497"/>
            <a:ext cx="2629495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📊 Match Count</a:t>
            </a:r>
            <a:endParaRPr lang="en-US" sz="2050" dirty="0"/>
          </a:p>
        </p:txBody>
      </p:sp>
      <p:sp>
        <p:nvSpPr>
          <p:cNvPr id="31" name="Text 29"/>
          <p:cNvSpPr/>
          <p:nvPr/>
        </p:nvSpPr>
        <p:spPr>
          <a:xfrm>
            <a:off x="7733586" y="5334953"/>
            <a:ext cx="6071592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matching source count → stronger credibility signal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901" y="845701"/>
            <a:ext cx="1506736" cy="324207"/>
          </a:xfrm>
          <a:prstGeom prst="roundRect">
            <a:avLst>
              <a:gd name="adj" fmla="val 46252"/>
            </a:avLst>
          </a:prstGeom>
          <a:noFill/>
          <a:ln w="7620">
            <a:solidFill>
              <a:srgbClr val="0404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1417" y="915710"/>
            <a:ext cx="1241703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28901" y="1240155"/>
            <a:ext cx="6332220" cy="1183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46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Machine Learning </a:t>
            </a:r>
            <a:r>
              <a:rPr lang="en-US" sz="465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Logistic Regression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728901" y="2493645"/>
            <a:ext cx="2958227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How the Model Works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28901" y="2987159"/>
            <a:ext cx="6332220" cy="1348502"/>
          </a:xfrm>
          <a:prstGeom prst="roundRect">
            <a:avLst>
              <a:gd name="adj" fmla="val 13900"/>
            </a:avLst>
          </a:prstGeom>
          <a:solidFill>
            <a:srgbClr val="FFFFFF"/>
          </a:solidFill>
          <a:ln/>
          <a:effectLst>
            <a:outerShdw blurRad="31115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7141" y="3195399"/>
            <a:ext cx="2958227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📝 TF-IDF Vectorization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37141" y="3666887"/>
            <a:ext cx="5915739" cy="46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raw headline text into numerical feature vectors — Term Frequency × Inverse Document Frequency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8901" y="4511278"/>
            <a:ext cx="6332220" cy="1348502"/>
          </a:xfrm>
          <a:prstGeom prst="roundRect">
            <a:avLst>
              <a:gd name="adj" fmla="val 13900"/>
            </a:avLst>
          </a:prstGeom>
          <a:solidFill>
            <a:srgbClr val="FFFFFF"/>
          </a:solidFill>
          <a:ln/>
          <a:effectLst>
            <a:outerShdw blurRad="31115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7141" y="4719518"/>
            <a:ext cx="2958227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⚙️ Logistic Regression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37141" y="5191006"/>
            <a:ext cx="5915739" cy="46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on labeled real/fake headline datasets; learns linguistic patterns that distinguish genuine from false news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8901" y="6035397"/>
            <a:ext cx="6332220" cy="1348502"/>
          </a:xfrm>
          <a:prstGeom prst="roundRect">
            <a:avLst>
              <a:gd name="adj" fmla="val 13900"/>
            </a:avLst>
          </a:prstGeom>
          <a:solidFill>
            <a:srgbClr val="FFFFFF"/>
          </a:solidFill>
          <a:ln/>
          <a:effectLst>
            <a:outerShdw blurRad="31115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7141" y="6243638"/>
            <a:ext cx="2958227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📈 Probability Output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37141" y="6715125"/>
            <a:ext cx="5915739" cy="46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a confidence percentage alongside the binary REAL / FAKE classification for every prediction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26881" y="648057"/>
            <a:ext cx="6632258" cy="6933486"/>
          </a:xfrm>
          <a:prstGeom prst="roundRect">
            <a:avLst>
              <a:gd name="adj" fmla="val 45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35121" y="823674"/>
            <a:ext cx="2958227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Model Decision Breakdown</a:t>
            </a:r>
            <a:endParaRPr lang="en-US" sz="23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121" y="1393388"/>
            <a:ext cx="6215777" cy="3321129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1810881" y="2580799"/>
            <a:ext cx="1174790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4221" y="2617351"/>
            <a:ext cx="91440" cy="914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005191" y="2603659"/>
            <a:ext cx="946190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TF-IDF Features·45%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12673132" y="2603659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·45%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12709684" y="2603659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11810881" y="2806303"/>
            <a:ext cx="1207651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4221" y="2842855"/>
            <a:ext cx="91440" cy="914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005191" y="2829163"/>
            <a:ext cx="979051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Word Frequency·25%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12705993" y="2829163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·25%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12742545" y="2829163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11810881" y="3031808"/>
            <a:ext cx="1220867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64221" y="3068360"/>
            <a:ext cx="91440" cy="914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005191" y="3054668"/>
            <a:ext cx="99226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N-gram Patterns·20%</a:t>
            </a:r>
            <a:endParaRPr lang="en-US" sz="700" dirty="0"/>
          </a:p>
        </p:txBody>
      </p:sp>
      <p:sp>
        <p:nvSpPr>
          <p:cNvPr id="31" name="Text 25"/>
          <p:cNvSpPr/>
          <p:nvPr/>
        </p:nvSpPr>
        <p:spPr>
          <a:xfrm>
            <a:off x="12719209" y="3054668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·20%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12755761" y="3054668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33" name="Shape 27"/>
          <p:cNvSpPr/>
          <p:nvPr/>
        </p:nvSpPr>
        <p:spPr>
          <a:xfrm>
            <a:off x="11810881" y="3257312"/>
            <a:ext cx="1227296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64221" y="3293864"/>
            <a:ext cx="91440" cy="914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005191" y="3280172"/>
            <a:ext cx="998696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Sentence Length·10%</a:t>
            </a:r>
            <a:endParaRPr lang="en-US" sz="700" dirty="0"/>
          </a:p>
        </p:txBody>
      </p:sp>
      <p:sp>
        <p:nvSpPr>
          <p:cNvPr id="36" name="Text 29"/>
          <p:cNvSpPr/>
          <p:nvPr/>
        </p:nvSpPr>
        <p:spPr>
          <a:xfrm>
            <a:off x="12725638" y="3280172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·10%</a:t>
            </a:r>
            <a:endParaRPr lang="en-US" sz="700" dirty="0"/>
          </a:p>
        </p:txBody>
      </p:sp>
      <p:sp>
        <p:nvSpPr>
          <p:cNvPr id="37" name="Text 30"/>
          <p:cNvSpPr/>
          <p:nvPr/>
        </p:nvSpPr>
        <p:spPr>
          <a:xfrm>
            <a:off x="12762190" y="3280172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38" name="Shape 31"/>
          <p:cNvSpPr/>
          <p:nvPr/>
        </p:nvSpPr>
        <p:spPr>
          <a:xfrm>
            <a:off x="7635121" y="4995624"/>
            <a:ext cx="6215777" cy="950357"/>
          </a:xfrm>
          <a:prstGeom prst="roundRect">
            <a:avLst>
              <a:gd name="adj" fmla="val 19723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3361" y="5256490"/>
            <a:ext cx="260271" cy="2082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311872" y="5223272"/>
            <a:ext cx="5330785" cy="460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learns patterns of real vs. fake headlines from training data — no human rules needed.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890" y="695563"/>
            <a:ext cx="1991082" cy="384572"/>
          </a:xfrm>
          <a:prstGeom prst="roundRect">
            <a:avLst>
              <a:gd name="adj" fmla="val 44768"/>
            </a:avLst>
          </a:prstGeom>
          <a:noFill/>
          <a:ln w="7620">
            <a:solidFill>
              <a:srgbClr val="0404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87981" y="774859"/>
            <a:ext cx="1688902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6890" y="1172766"/>
            <a:ext cx="8852654" cy="679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53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Code Working — </a:t>
            </a:r>
            <a:r>
              <a:rPr lang="en-US" sz="530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Your Implementation</a:t>
            </a:r>
            <a:endParaRPr lang="en-US" sz="5300" dirty="0"/>
          </a:p>
        </p:txBody>
      </p:sp>
      <p:sp>
        <p:nvSpPr>
          <p:cNvPr id="5" name="Shape 3"/>
          <p:cNvSpPr/>
          <p:nvPr/>
        </p:nvSpPr>
        <p:spPr>
          <a:xfrm>
            <a:off x="836890" y="2558177"/>
            <a:ext cx="6362462" cy="2192774"/>
          </a:xfrm>
          <a:prstGeom prst="roundRect">
            <a:avLst>
              <a:gd name="adj" fmla="val 6672"/>
            </a:avLst>
          </a:prstGeom>
          <a:solidFill>
            <a:srgbClr val="FBFBFB"/>
          </a:solidFill>
          <a:ln/>
          <a:effectLst>
            <a:outerShdw blurRad="35814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6890" y="2527697"/>
            <a:ext cx="6362462" cy="121920"/>
          </a:xfrm>
          <a:prstGeom prst="roundRect">
            <a:avLst>
              <a:gd name="adj" fmla="val 176515"/>
            </a:avLst>
          </a:prstGeom>
          <a:solidFill>
            <a:srgbClr val="F3FF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9445" y="2199561"/>
            <a:ext cx="717352" cy="717352"/>
          </a:xfrm>
          <a:prstGeom prst="roundRect">
            <a:avLst>
              <a:gd name="adj" fmla="val 127469"/>
            </a:avLst>
          </a:prstGeom>
          <a:solidFill>
            <a:srgbClr val="F3FF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4591" y="2414707"/>
            <a:ext cx="286941" cy="2869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48" y="3155871"/>
            <a:ext cx="3396496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Fetch from NewsAPI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106448" y="3634502"/>
            <a:ext cx="5823347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headline keywords to NewsAPI endpoint; receive JSON response containing headlines from global sources.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7430929" y="2558177"/>
            <a:ext cx="6362581" cy="2192774"/>
          </a:xfrm>
          <a:prstGeom prst="roundRect">
            <a:avLst>
              <a:gd name="adj" fmla="val 6672"/>
            </a:avLst>
          </a:prstGeom>
          <a:solidFill>
            <a:srgbClr val="FBFBFB"/>
          </a:solidFill>
          <a:ln/>
          <a:effectLst>
            <a:outerShdw blurRad="35814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30929" y="2527697"/>
            <a:ext cx="6362581" cy="121920"/>
          </a:xfrm>
          <a:prstGeom prst="roundRect">
            <a:avLst>
              <a:gd name="adj" fmla="val 176515"/>
            </a:avLst>
          </a:prstGeom>
          <a:solidFill>
            <a:srgbClr val="D1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253484" y="2199561"/>
            <a:ext cx="717352" cy="717352"/>
          </a:xfrm>
          <a:prstGeom prst="roundRect">
            <a:avLst>
              <a:gd name="adj" fmla="val 127469"/>
            </a:avLst>
          </a:prstGeom>
          <a:solidFill>
            <a:srgbClr val="D1F5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8630" y="2414707"/>
            <a:ext cx="286941" cy="28694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00486" y="3155871"/>
            <a:ext cx="3396496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Compare Using Similarity</a:t>
            </a:r>
            <a:endParaRPr lang="en-US" sz="2650" dirty="0"/>
          </a:p>
        </p:txBody>
      </p:sp>
      <p:sp>
        <p:nvSpPr>
          <p:cNvPr id="16" name="Text 12"/>
          <p:cNvSpPr/>
          <p:nvPr/>
        </p:nvSpPr>
        <p:spPr>
          <a:xfrm>
            <a:off x="7700486" y="3634502"/>
            <a:ext cx="5823466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fuzzy matching and keyword overlap between user headline and each fetched headline to compute similarity scores.</a:t>
            </a:r>
            <a:endParaRPr lang="en-US" sz="1850" dirty="0"/>
          </a:p>
        </p:txBody>
      </p:sp>
      <p:sp>
        <p:nvSpPr>
          <p:cNvPr id="17" name="Shape 13"/>
          <p:cNvSpPr/>
          <p:nvPr/>
        </p:nvSpPr>
        <p:spPr>
          <a:xfrm>
            <a:off x="836890" y="5341144"/>
            <a:ext cx="6362462" cy="2192774"/>
          </a:xfrm>
          <a:prstGeom prst="roundRect">
            <a:avLst>
              <a:gd name="adj" fmla="val 6672"/>
            </a:avLst>
          </a:prstGeom>
          <a:solidFill>
            <a:srgbClr val="FBFBFB"/>
          </a:solidFill>
          <a:ln/>
          <a:effectLst>
            <a:outerShdw blurRad="35814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36890" y="5310664"/>
            <a:ext cx="6362462" cy="121920"/>
          </a:xfrm>
          <a:prstGeom prst="roundRect">
            <a:avLst>
              <a:gd name="adj" fmla="val 176515"/>
            </a:avLst>
          </a:prstGeom>
          <a:solidFill>
            <a:srgbClr val="FFE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659445" y="4982528"/>
            <a:ext cx="717352" cy="717352"/>
          </a:xfrm>
          <a:prstGeom prst="roundRect">
            <a:avLst>
              <a:gd name="adj" fmla="val 127469"/>
            </a:avLst>
          </a:prstGeom>
          <a:solidFill>
            <a:srgbClr val="FFE3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4591" y="5197673"/>
            <a:ext cx="286941" cy="28694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06448" y="5938838"/>
            <a:ext cx="3396496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Count Strong Matches</a:t>
            </a:r>
            <a:endParaRPr lang="en-US" sz="2650" dirty="0"/>
          </a:p>
        </p:txBody>
      </p:sp>
      <p:sp>
        <p:nvSpPr>
          <p:cNvPr id="22" name="Text 17"/>
          <p:cNvSpPr/>
          <p:nvPr/>
        </p:nvSpPr>
        <p:spPr>
          <a:xfrm>
            <a:off x="1106448" y="6417469"/>
            <a:ext cx="5823347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Tally headlines that exceed the similarity threshold — more strong matches indicate higher credibility.</a:t>
            </a:r>
            <a:endParaRPr lang="en-US" sz="1850" dirty="0"/>
          </a:p>
        </p:txBody>
      </p:sp>
      <p:sp>
        <p:nvSpPr>
          <p:cNvPr id="23" name="Shape 18"/>
          <p:cNvSpPr/>
          <p:nvPr/>
        </p:nvSpPr>
        <p:spPr>
          <a:xfrm>
            <a:off x="7430929" y="5341144"/>
            <a:ext cx="6362581" cy="2192774"/>
          </a:xfrm>
          <a:prstGeom prst="roundRect">
            <a:avLst>
              <a:gd name="adj" fmla="val 6672"/>
            </a:avLst>
          </a:prstGeom>
          <a:solidFill>
            <a:srgbClr val="FBFBFB"/>
          </a:solidFill>
          <a:ln/>
          <a:effectLst>
            <a:outerShdw blurRad="35814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430929" y="5310664"/>
            <a:ext cx="6362581" cy="121920"/>
          </a:xfrm>
          <a:prstGeom prst="roundRect">
            <a:avLst>
              <a:gd name="adj" fmla="val 176515"/>
            </a:avLst>
          </a:prstGeom>
          <a:solidFill>
            <a:srgbClr val="EED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10253484" y="4982528"/>
            <a:ext cx="717352" cy="717352"/>
          </a:xfrm>
          <a:prstGeom prst="roundRect">
            <a:avLst>
              <a:gd name="adj" fmla="val 127469"/>
            </a:avLst>
          </a:prstGeom>
          <a:solidFill>
            <a:srgbClr val="EED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8630" y="5197673"/>
            <a:ext cx="286941" cy="28694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00486" y="5938838"/>
            <a:ext cx="3396496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Combine &amp; Generate Verdict</a:t>
            </a:r>
            <a:endParaRPr lang="en-US" sz="2650" dirty="0"/>
          </a:p>
        </p:txBody>
      </p:sp>
      <p:sp>
        <p:nvSpPr>
          <p:cNvPr id="28" name="Text 22"/>
          <p:cNvSpPr/>
          <p:nvPr/>
        </p:nvSpPr>
        <p:spPr>
          <a:xfrm>
            <a:off x="7700486" y="6417469"/>
            <a:ext cx="5823466" cy="84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ARY Scraper score + API score + ML prediction using the weighted formula to produce the final REAL / SUSPICIOUS / FAKE result.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382" y="846058"/>
            <a:ext cx="6277689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69382" y="1291114"/>
            <a:ext cx="6277689" cy="249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0"/>
              </a:lnSpc>
              <a:buNone/>
            </a:pPr>
            <a:r>
              <a:rPr lang="en-US" sz="9800" dirty="0">
                <a:solidFill>
                  <a:srgbClr val="78787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Confidence </a:t>
            </a:r>
            <a:r>
              <a:rPr lang="en-US" sz="980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Score Formula</a:t>
            </a:r>
            <a:endParaRPr lang="en-US" sz="9800" dirty="0"/>
          </a:p>
        </p:txBody>
      </p:sp>
      <p:sp>
        <p:nvSpPr>
          <p:cNvPr id="4" name="Text 2"/>
          <p:cNvSpPr/>
          <p:nvPr/>
        </p:nvSpPr>
        <p:spPr>
          <a:xfrm>
            <a:off x="769382" y="3985022"/>
            <a:ext cx="6277689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700" dirty="0">
              <a:solidFill>
                <a:srgbClr val="3C3C3C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50"/>
              </a:lnSpc>
              <a:buNone/>
            </a:pPr>
            <a:endParaRPr lang="en-US" sz="1700" dirty="0">
              <a:solidFill>
                <a:srgbClr val="3C3C3C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50"/>
              </a:lnSpc>
              <a:buNone/>
            </a:pPr>
            <a:endParaRPr lang="en-US" sz="1700" dirty="0">
              <a:solidFill>
                <a:srgbClr val="3C3C3C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50"/>
              </a:lnSpc>
              <a:buNone/>
            </a:pPr>
            <a:endParaRPr lang="en-US" sz="1700" dirty="0">
              <a:solidFill>
                <a:srgbClr val="3C3C3C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50"/>
              </a:lnSpc>
              <a:buNone/>
            </a:pPr>
            <a:endParaRPr lang="en-US" sz="1700" dirty="0">
              <a:solidFill>
                <a:srgbClr val="3C3C3C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50"/>
              </a:lnSpc>
              <a:buNone/>
            </a:pPr>
            <a:endParaRPr lang="en-US" sz="1700" dirty="0">
              <a:solidFill>
                <a:srgbClr val="3C3C3C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confidence score blends three independent signals into a single 0–100 score reflecting headline authenticity.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90949" y="865703"/>
            <a:ext cx="312253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Weighted Formula</a:t>
            </a:r>
            <a:endParaRPr lang="en-US" sz="2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949" y="1398151"/>
            <a:ext cx="6277689" cy="2202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0738" y="1617940"/>
            <a:ext cx="5838111" cy="149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Confidence = (ML Score × 0.50) + (ARY Similarity × 0.30) + (API Score × 0.20)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7590949" y="3820478"/>
            <a:ext cx="312253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Component Breakdown</a:t>
            </a:r>
            <a:endParaRPr lang="en-US" sz="2450" dirty="0"/>
          </a:p>
        </p:txBody>
      </p:sp>
      <p:sp>
        <p:nvSpPr>
          <p:cNvPr id="9" name="Shape 6"/>
          <p:cNvSpPr/>
          <p:nvPr/>
        </p:nvSpPr>
        <p:spPr>
          <a:xfrm>
            <a:off x="7590949" y="4352925"/>
            <a:ext cx="494586" cy="494586"/>
          </a:xfrm>
          <a:prstGeom prst="roundRect">
            <a:avLst>
              <a:gd name="adj" fmla="val 40003"/>
            </a:avLst>
          </a:prstGeom>
          <a:solidFill>
            <a:srgbClr val="F3FF99"/>
          </a:solidFill>
          <a:ln/>
          <a:effectLst>
            <a:outerShdw blurRad="32893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50897" y="4412873"/>
            <a:ext cx="374690" cy="374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2950" dirty="0"/>
          </a:p>
        </p:txBody>
      </p:sp>
      <p:sp>
        <p:nvSpPr>
          <p:cNvPr id="11" name="Text 8"/>
          <p:cNvSpPr/>
          <p:nvPr/>
        </p:nvSpPr>
        <p:spPr>
          <a:xfrm>
            <a:off x="8281273" y="4462820"/>
            <a:ext cx="5587365" cy="62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ML Score × 0.50</a:t>
            </a:r>
            <a:r>
              <a:rPr lang="en-US" sz="2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Logistic Regression probability of headline being real</a:t>
            </a:r>
            <a:endParaRPr lang="en-US" sz="2450" dirty="0"/>
          </a:p>
        </p:txBody>
      </p:sp>
      <p:sp>
        <p:nvSpPr>
          <p:cNvPr id="12" name="Shape 9"/>
          <p:cNvSpPr/>
          <p:nvPr/>
        </p:nvSpPr>
        <p:spPr>
          <a:xfrm>
            <a:off x="7590949" y="5478899"/>
            <a:ext cx="494586" cy="494586"/>
          </a:xfrm>
          <a:prstGeom prst="roundRect">
            <a:avLst>
              <a:gd name="adj" fmla="val 40003"/>
            </a:avLst>
          </a:prstGeom>
          <a:solidFill>
            <a:srgbClr val="D1F5FB"/>
          </a:solidFill>
          <a:ln/>
          <a:effectLst>
            <a:outerShdw blurRad="32893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650897" y="5538847"/>
            <a:ext cx="374690" cy="374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2950" dirty="0"/>
          </a:p>
        </p:txBody>
      </p:sp>
      <p:sp>
        <p:nvSpPr>
          <p:cNvPr id="14" name="Text 11"/>
          <p:cNvSpPr/>
          <p:nvPr/>
        </p:nvSpPr>
        <p:spPr>
          <a:xfrm>
            <a:off x="8281273" y="5588794"/>
            <a:ext cx="5587365" cy="62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ARY Similarity × 0.30</a:t>
            </a:r>
            <a:r>
              <a:rPr lang="en-US" sz="2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Best match similarity from ARY News scraper</a:t>
            </a:r>
            <a:endParaRPr lang="en-US" sz="2450" dirty="0"/>
          </a:p>
        </p:txBody>
      </p:sp>
      <p:sp>
        <p:nvSpPr>
          <p:cNvPr id="15" name="Shape 12"/>
          <p:cNvSpPr/>
          <p:nvPr/>
        </p:nvSpPr>
        <p:spPr>
          <a:xfrm>
            <a:off x="7590949" y="6604873"/>
            <a:ext cx="494586" cy="494586"/>
          </a:xfrm>
          <a:prstGeom prst="roundRect">
            <a:avLst>
              <a:gd name="adj" fmla="val 40003"/>
            </a:avLst>
          </a:prstGeom>
          <a:solidFill>
            <a:srgbClr val="FFE399"/>
          </a:solidFill>
          <a:ln/>
          <a:effectLst>
            <a:outerShdw blurRad="32893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50897" y="6664821"/>
            <a:ext cx="374690" cy="374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2950" dirty="0"/>
          </a:p>
        </p:txBody>
      </p:sp>
      <p:sp>
        <p:nvSpPr>
          <p:cNvPr id="17" name="Text 14"/>
          <p:cNvSpPr/>
          <p:nvPr/>
        </p:nvSpPr>
        <p:spPr>
          <a:xfrm>
            <a:off x="8281273" y="6714768"/>
            <a:ext cx="5587365" cy="62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API Score × 0.20</a:t>
            </a:r>
            <a:r>
              <a:rPr lang="en-US" sz="24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Global source match count from NewsAPI</a:t>
            </a:r>
            <a:endParaRPr lang="en-US" sz="2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355" y="710327"/>
            <a:ext cx="1271230" cy="331589"/>
          </a:xfrm>
          <a:prstGeom prst="roundRect">
            <a:avLst>
              <a:gd name="adj" fmla="val 46059"/>
            </a:avLst>
          </a:prstGeom>
          <a:noFill/>
          <a:ln w="7620">
            <a:solidFill>
              <a:srgbClr val="0404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7133" y="781526"/>
            <a:ext cx="1001673" cy="189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2355" y="1114782"/>
            <a:ext cx="6026110" cy="60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7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Why These Weights?</a:t>
            </a:r>
            <a:endParaRPr lang="en-US" sz="4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55" y="3063240"/>
            <a:ext cx="6314123" cy="33817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68585" y="4678680"/>
            <a:ext cx="16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50%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659710" y="5659564"/>
            <a:ext cx="16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30%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2029849" y="3244789"/>
            <a:ext cx="16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20%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5159573" y="4394359"/>
            <a:ext cx="1278374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913" y="4430911"/>
            <a:ext cx="91440" cy="91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53883" y="4417219"/>
            <a:ext cx="104977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Machine Learning·50%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6125408" y="4417219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·50%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6161961" y="4417219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5159573" y="4619863"/>
            <a:ext cx="1024652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913" y="4656415"/>
            <a:ext cx="91440" cy="914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53883" y="4642723"/>
            <a:ext cx="79605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ARY Scraper·30%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5871686" y="4642723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·30%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5908238" y="4642723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5159573" y="4845368"/>
            <a:ext cx="886539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913" y="4881920"/>
            <a:ext cx="91440" cy="914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53883" y="4868228"/>
            <a:ext cx="65793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NewsAPI·20%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5733574" y="4868228"/>
            <a:ext cx="27824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·20%</a:t>
            </a:r>
            <a:endParaRPr lang="en-US" sz="700" dirty="0"/>
          </a:p>
        </p:txBody>
      </p:sp>
      <p:sp>
        <p:nvSpPr>
          <p:cNvPr id="23" name="Text 17"/>
          <p:cNvSpPr/>
          <p:nvPr/>
        </p:nvSpPr>
        <p:spPr>
          <a:xfrm>
            <a:off x="5770126" y="4868228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C3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4" name="Shape 18"/>
          <p:cNvSpPr/>
          <p:nvPr/>
        </p:nvSpPr>
        <p:spPr>
          <a:xfrm>
            <a:off x="7581543" y="2195751"/>
            <a:ext cx="6314123" cy="1663541"/>
          </a:xfrm>
          <a:prstGeom prst="roundRect">
            <a:avLst>
              <a:gd name="adj" fmla="val 6596"/>
            </a:avLst>
          </a:prstGeom>
          <a:solidFill>
            <a:srgbClr val="FBFBFB"/>
          </a:solidFill>
          <a:ln w="22860">
            <a:solidFill>
              <a:srgbClr val="F3FF99"/>
            </a:solidFill>
            <a:prstDash val="solid"/>
          </a:ln>
          <a:effectLst>
            <a:outerShdw blurRad="3175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558683" y="2195751"/>
            <a:ext cx="91440" cy="1663541"/>
          </a:xfrm>
          <a:prstGeom prst="roundRect">
            <a:avLst>
              <a:gd name="adj" fmla="val 208781"/>
            </a:avLst>
          </a:prstGeom>
          <a:solidFill>
            <a:srgbClr val="F3FF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885033" y="2430661"/>
            <a:ext cx="3026926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🤖</a:t>
            </a:r>
            <a:r>
              <a:rPr lang="en-US" sz="23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Machine Learning — 50%</a:t>
            </a:r>
            <a:endParaRPr lang="en-US" sz="2350" dirty="0"/>
          </a:p>
        </p:txBody>
      </p:sp>
      <p:sp>
        <p:nvSpPr>
          <p:cNvPr id="27" name="Text 21"/>
          <p:cNvSpPr/>
          <p:nvPr/>
        </p:nvSpPr>
        <p:spPr>
          <a:xfrm>
            <a:off x="7885033" y="2914293"/>
            <a:ext cx="5775722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weight because the trained model has learned deep linguistic patterns across thousands of real and fake headlines — most reliable signal.</a:t>
            </a:r>
            <a:endParaRPr lang="en-US" sz="1650" dirty="0"/>
          </a:p>
        </p:txBody>
      </p:sp>
      <p:sp>
        <p:nvSpPr>
          <p:cNvPr id="28" name="Shape 22"/>
          <p:cNvSpPr/>
          <p:nvPr/>
        </p:nvSpPr>
        <p:spPr>
          <a:xfrm>
            <a:off x="7581543" y="4041577"/>
            <a:ext cx="6314123" cy="1663541"/>
          </a:xfrm>
          <a:prstGeom prst="roundRect">
            <a:avLst>
              <a:gd name="adj" fmla="val 6596"/>
            </a:avLst>
          </a:prstGeom>
          <a:solidFill>
            <a:srgbClr val="FBFBFB"/>
          </a:solidFill>
          <a:ln w="22860">
            <a:solidFill>
              <a:srgbClr val="D1F5FB"/>
            </a:solidFill>
            <a:prstDash val="solid"/>
          </a:ln>
          <a:effectLst>
            <a:outerShdw blurRad="3175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558683" y="4041577"/>
            <a:ext cx="91440" cy="1663541"/>
          </a:xfrm>
          <a:prstGeom prst="roundRect">
            <a:avLst>
              <a:gd name="adj" fmla="val 208781"/>
            </a:avLst>
          </a:prstGeom>
          <a:solidFill>
            <a:srgbClr val="D1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885033" y="4276487"/>
            <a:ext cx="3012996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📰</a:t>
            </a:r>
            <a:r>
              <a:rPr lang="en-US" sz="23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ARY Scraper — 30%</a:t>
            </a:r>
            <a:endParaRPr lang="en-US" sz="2350" dirty="0"/>
          </a:p>
        </p:txBody>
      </p:sp>
      <p:sp>
        <p:nvSpPr>
          <p:cNvPr id="31" name="Text 25"/>
          <p:cNvSpPr/>
          <p:nvPr/>
        </p:nvSpPr>
        <p:spPr>
          <a:xfrm>
            <a:off x="7885033" y="4760119"/>
            <a:ext cx="5775722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Verifies directly against a trusted Pakistani news source. If the headline appears on ARY News, it's likely credible locally.</a:t>
            </a:r>
            <a:endParaRPr lang="en-US" sz="1650" dirty="0"/>
          </a:p>
        </p:txBody>
      </p:sp>
      <p:sp>
        <p:nvSpPr>
          <p:cNvPr id="32" name="Shape 26"/>
          <p:cNvSpPr/>
          <p:nvPr/>
        </p:nvSpPr>
        <p:spPr>
          <a:xfrm>
            <a:off x="7581543" y="5887403"/>
            <a:ext cx="6314123" cy="1426845"/>
          </a:xfrm>
          <a:prstGeom prst="roundRect">
            <a:avLst>
              <a:gd name="adj" fmla="val 7690"/>
            </a:avLst>
          </a:prstGeom>
          <a:solidFill>
            <a:srgbClr val="FBFBFB"/>
          </a:solidFill>
          <a:ln w="22860">
            <a:solidFill>
              <a:srgbClr val="FFE399"/>
            </a:solidFill>
            <a:prstDash val="solid"/>
          </a:ln>
          <a:effectLst>
            <a:outerShdw blurRad="3175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558683" y="5887403"/>
            <a:ext cx="91440" cy="1426845"/>
          </a:xfrm>
          <a:prstGeom prst="roundRect">
            <a:avLst>
              <a:gd name="adj" fmla="val 208781"/>
            </a:avLst>
          </a:prstGeom>
          <a:solidFill>
            <a:srgbClr val="FFE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7885033" y="6122313"/>
            <a:ext cx="3012996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🌍</a:t>
            </a:r>
            <a:r>
              <a:rPr lang="en-US" sz="235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NewsAPI — 20%</a:t>
            </a:r>
            <a:endParaRPr lang="en-US" sz="2350" dirty="0"/>
          </a:p>
        </p:txBody>
      </p:sp>
      <p:sp>
        <p:nvSpPr>
          <p:cNvPr id="35" name="Text 29"/>
          <p:cNvSpPr/>
          <p:nvPr/>
        </p:nvSpPr>
        <p:spPr>
          <a:xfrm>
            <a:off x="7885033" y="6605945"/>
            <a:ext cx="577572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global confirmation. Weighted lower due to API rate limits and variable source quality across regions.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382" y="688658"/>
            <a:ext cx="1567339" cy="346353"/>
          </a:xfrm>
          <a:prstGeom prst="roundRect">
            <a:avLst>
              <a:gd name="adj" fmla="val 45699"/>
            </a:avLst>
          </a:prstGeom>
          <a:noFill/>
          <a:ln w="7620">
            <a:solidFill>
              <a:srgbClr val="0404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08804" y="762119"/>
            <a:ext cx="1288494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5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OUTPUT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92548" y="1113234"/>
            <a:ext cx="6245185" cy="624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Final Verdict </a:t>
            </a:r>
            <a:r>
              <a:rPr lang="en-US" sz="4900" i="1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Thresholds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769382" y="2031325"/>
            <a:ext cx="13091636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the combined confidence score, every headline is classified into one of three categories: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9382" y="2500789"/>
            <a:ext cx="13091636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9382" y="2970252"/>
            <a:ext cx="13091636" cy="2845832"/>
          </a:xfrm>
          <a:prstGeom prst="roundRect">
            <a:avLst>
              <a:gd name="adj" fmla="val 6952"/>
            </a:avLst>
          </a:prstGeom>
          <a:solidFill>
            <a:srgbClr val="F3FF99"/>
          </a:solidFill>
          <a:ln/>
          <a:effectLst>
            <a:outerShdw blurRad="32893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9382" y="2970252"/>
            <a:ext cx="4363879" cy="2845832"/>
          </a:xfrm>
          <a:prstGeom prst="roundRect">
            <a:avLst>
              <a:gd name="adj" fmla="val 6952"/>
            </a:avLst>
          </a:prstGeom>
          <a:solidFill>
            <a:srgbClr val="C2F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90055" y="3190042"/>
            <a:ext cx="312253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✅ REAL NEWS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989171" y="3619738"/>
            <a:ext cx="3924300" cy="861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0"/>
              </a:lnSpc>
              <a:buNone/>
            </a:pPr>
            <a:r>
              <a:rPr lang="en-US" sz="67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≥ 70</a:t>
            </a:r>
            <a:endParaRPr lang="en-US" sz="6750" dirty="0"/>
          </a:p>
        </p:txBody>
      </p:sp>
      <p:sp>
        <p:nvSpPr>
          <p:cNvPr id="11" name="Text 9"/>
          <p:cNvSpPr/>
          <p:nvPr/>
        </p:nvSpPr>
        <p:spPr>
          <a:xfrm>
            <a:off x="989171" y="4599027"/>
            <a:ext cx="3924300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score of 70 or above. Headline is verified by ML model, found on ARY News, and confirmed by multiple global sources.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33261" y="2970252"/>
            <a:ext cx="4363879" cy="2845832"/>
          </a:xfrm>
          <a:prstGeom prst="rect">
            <a:avLst/>
          </a:prstGeom>
          <a:solidFill>
            <a:srgbClr val="FFE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33261" y="2970252"/>
            <a:ext cx="30480" cy="2845832"/>
          </a:xfrm>
          <a:prstGeom prst="roundRect">
            <a:avLst>
              <a:gd name="adj" fmla="val 649119"/>
            </a:avLst>
          </a:prstGeom>
          <a:solidFill>
            <a:srgbClr val="E5C9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53933" y="3190042"/>
            <a:ext cx="312253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⚠️ SUSPICIOUS</a:t>
            </a:r>
            <a:endParaRPr lang="en-US" sz="2450" dirty="0"/>
          </a:p>
        </p:txBody>
      </p:sp>
      <p:sp>
        <p:nvSpPr>
          <p:cNvPr id="15" name="Text 13"/>
          <p:cNvSpPr/>
          <p:nvPr/>
        </p:nvSpPr>
        <p:spPr>
          <a:xfrm>
            <a:off x="5353050" y="3619738"/>
            <a:ext cx="3924300" cy="861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0"/>
              </a:lnSpc>
              <a:buNone/>
            </a:pPr>
            <a:r>
              <a:rPr lang="en-US" sz="67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45 – 69</a:t>
            </a:r>
            <a:endParaRPr lang="en-US" sz="6750" dirty="0"/>
          </a:p>
        </p:txBody>
      </p:sp>
      <p:sp>
        <p:nvSpPr>
          <p:cNvPr id="16" name="Text 14"/>
          <p:cNvSpPr/>
          <p:nvPr/>
        </p:nvSpPr>
        <p:spPr>
          <a:xfrm>
            <a:off x="5353050" y="4599027"/>
            <a:ext cx="3924300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score between 45 and 69. Partial matches found but insufficient evidence to confirm or deny authenticity.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497139" y="2970252"/>
            <a:ext cx="4363879" cy="2845832"/>
          </a:xfrm>
          <a:prstGeom prst="rect">
            <a:avLst/>
          </a:prstGeom>
          <a:solidFill>
            <a:srgbClr val="EED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497139" y="2970252"/>
            <a:ext cx="30480" cy="2845832"/>
          </a:xfrm>
          <a:prstGeom prst="roundRect">
            <a:avLst>
              <a:gd name="adj" fmla="val 649119"/>
            </a:avLst>
          </a:prstGeom>
          <a:solidFill>
            <a:srgbClr val="D4C5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117812" y="3190042"/>
            <a:ext cx="312253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❌ FAKE NEWS</a:t>
            </a:r>
            <a:endParaRPr lang="en-US" sz="2450" dirty="0"/>
          </a:p>
        </p:txBody>
      </p:sp>
      <p:sp>
        <p:nvSpPr>
          <p:cNvPr id="20" name="Text 18"/>
          <p:cNvSpPr/>
          <p:nvPr/>
        </p:nvSpPr>
        <p:spPr>
          <a:xfrm>
            <a:off x="9716929" y="3619738"/>
            <a:ext cx="3924300" cy="861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50"/>
              </a:lnSpc>
              <a:buNone/>
            </a:pPr>
            <a:r>
              <a:rPr lang="en-US" sz="675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&lt; 45</a:t>
            </a:r>
            <a:endParaRPr lang="en-US" sz="6750" dirty="0"/>
          </a:p>
        </p:txBody>
      </p:sp>
      <p:sp>
        <p:nvSpPr>
          <p:cNvPr id="21" name="Text 19"/>
          <p:cNvSpPr/>
          <p:nvPr/>
        </p:nvSpPr>
        <p:spPr>
          <a:xfrm>
            <a:off x="9716929" y="4599027"/>
            <a:ext cx="3924300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score below 45. Headline not found in trusted sources and ML model predicts low authenticity probability.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9382" y="6036231"/>
            <a:ext cx="13091636" cy="24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69382" y="6505694"/>
            <a:ext cx="13091636" cy="1035248"/>
          </a:xfrm>
          <a:prstGeom prst="roundRect">
            <a:avLst>
              <a:gd name="adj" fmla="val 19112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71" y="6786086"/>
            <a:ext cx="274677" cy="219789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83638" y="6756321"/>
            <a:ext cx="12157591" cy="49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three-tier system balances precision and recall — avoiding both false positives (labeling real news as fake) and false negatives (missing misinformation).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982</Words>
  <Application>Microsoft Office PowerPoint</Application>
  <PresentationFormat>Custom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Instrument Serif</vt:lpstr>
      <vt:lpstr>Arial</vt:lpstr>
      <vt:lpstr>-apple-system, BlinkMacSystemFont, Segoe UI, Roboto, Helvetica Neue, Arial, sans-serif Medium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Adeel</dc:creator>
  <cp:lastModifiedBy>Adeel Rehman</cp:lastModifiedBy>
  <cp:revision>2</cp:revision>
  <dcterms:created xsi:type="dcterms:W3CDTF">2026-04-27T13:31:44Z</dcterms:created>
  <dcterms:modified xsi:type="dcterms:W3CDTF">2026-04-27T13:36:07Z</dcterms:modified>
</cp:coreProperties>
</file>